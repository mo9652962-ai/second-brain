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6E0D1E"/>
              </a:gs>
              <a:gs pos="100000">
                <a:srgbClr val="AC1A2A"/>
              </a:gs>
            </a:gsLst>
            <a:lin scaled="0" ang="19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217920" y="914400"/>
            <a:ext cx="5303520" cy="5303520"/>
          </a:xfrm>
          <a:prstGeom prst="ellipse">
            <a:avLst/>
          </a:prstGeom>
          <a:solidFill>
            <a:srgbClr val="D4AF37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011680"/>
            <a:ext cx="3291840" cy="3291840"/>
          </a:xfrm>
          <a:prstGeom prst="ellipse">
            <a:avLst/>
          </a:prstGeom>
          <a:solidFill>
            <a:srgbClr val="FFE8B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6858000" cy="18288"/>
          </a:xfrm>
          <a:prstGeom prst="rect">
            <a:avLst/>
          </a:prstGeom>
          <a:solidFill>
            <a:srgbClr val="F0DFA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5074920"/>
            <a:ext cx="6858000" cy="18288"/>
          </a:xfrm>
          <a:prstGeom prst="rect">
            <a:avLst/>
          </a:prstGeom>
          <a:solidFill>
            <a:srgbClr val="F0DFA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26080" y="5394960"/>
            <a:ext cx="6858000" cy="18288"/>
          </a:xfrm>
          <a:prstGeom prst="rect">
            <a:avLst/>
          </a:prstGeom>
          <a:solidFill>
            <a:srgbClr val="F0DFA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59" y="5715000"/>
            <a:ext cx="6858000" cy="18288"/>
          </a:xfrm>
          <a:prstGeom prst="rect">
            <a:avLst/>
          </a:prstGeom>
          <a:solidFill>
            <a:srgbClr val="F0DFA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ollow_mask_red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766560" y="3931920"/>
            <a:ext cx="4389120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45920"/>
            <a:ext cx="4114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NATIONAL SCHOLARSHIP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敬请各位专家评委</a:t>
            </a:r>
          </a:p>
          <a:p>
            <a:pPr>
              <a:spcBef>
                <a:spcPts val="400"/>
              </a:spcBef>
              <a:defRPr sz="2800" b="1">
                <a:solidFill>
                  <a:srgbClr val="D4AF37"/>
                </a:solidFill>
                <a:latin typeface="Microsoft YaHei"/>
              </a:defRPr>
            </a:pPr>
            <a:r>
              <a:t>批评与指正</a:t>
            </a:r>
          </a:p>
          <a:p>
            <a:pPr>
              <a:spcBef>
                <a:spcPts val="1600"/>
              </a:spcBef>
              <a:defRPr sz="1300">
                <a:solidFill>
                  <a:srgbClr val="F0DFA8"/>
                </a:solidFill>
                <a:latin typeface="Microsoft YaHei"/>
              </a:defRPr>
            </a:pPr>
            <a:r>
              <a:t>知不足而奋进 · 望远山而前行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0690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A3028"/>
                </a:solidFill>
                <a:latin typeface="Microsoft YaHei"/>
              </a:defRPr>
            </a:pPr>
            <a:r>
              <a:t>◆ 汇报人：sora</a:t>
            </a:r>
          </a:p>
          <a:p>
            <a:pPr>
              <a:spcBef>
                <a:spcPts val="600"/>
              </a:spcBef>
              <a:defRPr sz="1300">
                <a:solidFill>
                  <a:srgbClr val="5A4E42"/>
                </a:solidFill>
                <a:latin typeface="Microsoft YaHei"/>
              </a:defRPr>
            </a:pPr>
            <a:r>
              <a:t>◆ 专　业：飞行器质量与可靠性</a:t>
            </a:r>
          </a:p>
          <a:p>
            <a:pPr>
              <a:spcBef>
                <a:spcPts val="600"/>
              </a:spcBef>
              <a:defRPr sz="1300">
                <a:solidFill>
                  <a:srgbClr val="5A4E42"/>
                </a:solidFill>
                <a:latin typeface="Microsoft YaHei"/>
              </a:defRPr>
            </a:pPr>
            <a:r>
              <a:t>◆ 期　限：2026 年秋季国家奖学金评审答辩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128"/>
              </a:gs>
              <a:gs pos="100000">
                <a:srgbClr val="001F5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0" y="914400"/>
            <a:ext cx="6035040" cy="5303520"/>
          </a:xfrm>
          <a:prstGeom prst="ellipse">
            <a:avLst/>
          </a:prstGeom>
          <a:solidFill>
            <a:srgbClr val="00C4E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4114800" cy="3840480"/>
          </a:xfrm>
          <a:prstGeom prst="ellipse">
            <a:avLst/>
          </a:prstGeom>
          <a:solidFill>
            <a:srgbClr val="00FFDD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llow_mask_tech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64592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Arial"/>
              </a:defRPr>
            </a:pPr>
            <a:r>
              <a:t>PRODUCT DEMO &amp; ROADMAP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墨题 · 离线优先</a:t>
            </a:r>
          </a:p>
          <a:p>
            <a:pPr>
              <a:spcBef>
                <a:spcPts val="400"/>
              </a:spcBef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AI 智能真题刷题机</a:t>
            </a:r>
          </a:p>
          <a:p>
            <a:pPr>
              <a:spcBef>
                <a:spcPts val="1600"/>
              </a:spcBef>
              <a:defRPr sz="1300">
                <a:solidFill>
                  <a:srgbClr val="94A3B8"/>
                </a:solidFill>
                <a:latin typeface="Microsoft YaHei"/>
              </a:defRPr>
            </a:pPr>
            <a:r>
              <a:t>让每一位硬核备考者，都能享受丝滑的离线原生交互体验。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4805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5D4"/>
                </a:solidFill>
                <a:latin typeface="Consolas"/>
              </a:defRPr>
            </a:pPr>
            <a:r>
              <a:t>❖ 官网体验：mo9652962-ai.github.io</a:t>
            </a:r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  <a:latin typeface="Microsoft YaHei"/>
              </a:defRPr>
            </a:pPr>
            <a:r>
              <a:t>❖ 开源架构：MIT License · 支持多端离线数据同步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217920" y="1371600"/>
            <a:ext cx="4754880" cy="4572000"/>
          </a:xfrm>
          <a:prstGeom prst="ellipse">
            <a:avLst/>
          </a:prstGeom>
          <a:solidFill>
            <a:srgbClr val="D93829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2011680"/>
            <a:ext cx="2926080" cy="2926080"/>
          </a:xfrm>
          <a:prstGeom prst="ellipse">
            <a:avLst/>
          </a:prstGeom>
          <a:solidFill>
            <a:srgbClr val="2A9D8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llow_mask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64592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73E3A"/>
                </a:solidFill>
                <a:latin typeface="STKaiti"/>
              </a:defRPr>
            </a:pPr>
            <a:r>
              <a:t>落纸云烟 · 墨尽意存</a:t>
            </a:r>
          </a:p>
          <a:p>
            <a:pPr>
              <a:spcBef>
                <a:spcPts val="800"/>
              </a:spcBef>
              <a:defRPr sz="2800" b="1">
                <a:solidFill>
                  <a:srgbClr val="2E2A23"/>
                </a:solidFill>
                <a:latin typeface="STKaiti"/>
              </a:defRPr>
            </a:pPr>
            <a:r>
              <a:t>感谢诸位师友</a:t>
            </a:r>
          </a:p>
          <a:p>
            <a:pPr>
              <a:spcBef>
                <a:spcPts val="600"/>
              </a:spcBef>
              <a:defRPr sz="2200" b="1">
                <a:solidFill>
                  <a:srgbClr val="57534A"/>
                </a:solidFill>
                <a:latin typeface="STKaiti"/>
              </a:defRPr>
            </a:pPr>
            <a:r>
              <a:t>倾囊相授 与 悉心指引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