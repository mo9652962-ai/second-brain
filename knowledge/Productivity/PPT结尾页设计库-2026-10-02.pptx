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反例页：信息量为零、无记忆点、无行动指引。它唯一的作用是提醒观众「终于结束了」。</a:t>
            </a:r>
          </a:p>
          <a:p>
            <a:r>
              <a:t>观众记住的是最后看到的东西（近因效应）——你把最高价值的广告位用来贴了一张白纸。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回旋镖结构：开场抛出的那句话，在最后一页原封不动弹回来。</a:t>
            </a:r>
          </a:p>
          <a:p>
            <a:r>
              <a:t>心理机制 = 首因效应 + 近因效应叠加，记忆强度翻倍。</a:t>
            </a:r>
          </a:p>
          <a:p>
            <a:r>
              <a:t>适用：年会、年度汇报、复盘会。文案铁律：必须和开场一模一样，一个字都别改。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CTA 铁律：一页只有一个动作。给两个选项 = 让观众做选择 = 大多数人不选。</a:t>
            </a:r>
          </a:p>
          <a:p>
            <a:r>
              <a:t>必须写清三件事：做什么、门槛多低（扫码）、什么时候截止（稀缺感）。</a:t>
            </a:r>
          </a:p>
          <a:p>
            <a:r>
              <a:t>适用：销售提案、招商、内测招募、活动报名。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分栏法：左边给情绪（一句人话），右边给信息（可抄走的数据）。</a:t>
            </a:r>
          </a:p>
          <a:p>
            <a:r>
              <a:t>把联系方式放在结尾页而不是单独一页 —— 观众想起来要联系你的时候，不用往回翻。</a:t>
            </a:r>
          </a:p>
          <a:p>
            <a:r>
              <a:t>适用：求职、商务合作、项目汇报、讲师介绍。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金句页的成功率只有一条判据：这句话能不能被观众原样复述出来。</a:t>
            </a:r>
          </a:p>
          <a:p>
            <a:r>
              <a:t>不能复述的就不是金句，是标语。写作方法：前半句制造反差，后半句给答案。</a:t>
            </a:r>
          </a:p>
          <a:p>
            <a:r>
              <a:t>字体必须够大（&gt;=44pt）且占满版面 —— 金句页排版越简单越高级，不要加装饰。</a:t>
            </a:r>
          </a:p>
          <a:p>
            <a:r>
              <a:t>适用：发布会、竞聘、年终演讲、个人品牌。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总结页不是目录复读。判断标准：如果只截这一页发出去，别人能不能看懂你的核心结论？</a:t>
            </a:r>
          </a:p>
          <a:p>
            <a:r>
              <a:t>三张卡上限。超过三张，观众一张都记不住。</a:t>
            </a:r>
          </a:p>
          <a:p>
            <a:r>
              <a:t>适用：培训、行业分析、项目复盘、异步交付（别人只看最后一页也能拿走东西）。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沉默的力量：放完全屏图后停 3~5 秒不说话，台下会先安静，然后掌声。</a:t>
            </a:r>
          </a:p>
          <a:p>
            <a:r>
              <a:t>底层图动画建议手动再加一个「强调-放大/缩小 110%」，9 秒缓动 —— 大屏上有极轻微的呼吸感，肉眼几乎察觉不到，但质感完全不同。</a:t>
            </a:r>
          </a:p>
          <a:p>
            <a:r>
              <a:t>适用：主题演讲、公益、品牌片尾、答辩致谢。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致谢页是全场停留时间最长的一页（评委提问 5~15 分钟），绝不能白底黑字。</a:t>
            </a:r>
          </a:p>
          <a:p>
            <a:r>
              <a:t>三层结构：底层暗红鎏金缓动缩放 + 中层 S 型流线毛玻璃 + 顶层文字布尔运算镂空。</a:t>
            </a:r>
          </a:p>
          <a:p>
            <a:r>
              <a:t>镂空文字处 100% 透明，直接透出底层流动金光 —— 文字是「窗」，不是「字」。</a:t>
            </a:r>
          </a:p>
          <a:p>
            <a:r>
              <a:t>适用：学位答辩、国奖/优毕评奖、学术会议。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同一套镂空结构换成冷色调 + 白色磨砂面板，立刻从学术切换成商业科技风。</a:t>
            </a:r>
          </a:p>
          <a:p>
            <a:r>
              <a:t>面板放右侧，镂空大字压在面板上 —— 大面积留白在左，视觉重心稳定不飘。</a:t>
            </a:r>
          </a:p>
          <a:p>
            <a:r>
              <a:t>适用：企业年终汇报、商业方案交付、客户路演、高客单接单收尾。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834640"/>
            <a:ext cx="121916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2E343E"/>
                </a:solidFill>
                <a:latin typeface="C:/Windows/Fonts/msyhbd.ttc"/>
                <a:ea typeface="C:/Windows/Fonts/msyhbd.ttc"/>
                <a:cs typeface="C:/Windows/Fonts/msyhbd.ttc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77639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spc="400">
                <a:solidFill>
                  <a:srgbClr val="969EAA"/>
                </a:solidFill>
                <a:latin typeface="C:/Windows/Fonts/arialbd.ttf"/>
                <a:ea typeface="C:/Windows/Fonts/arialbd.ttf"/>
                <a:cs typeface="C:/Windows/Fonts/arialbd.ttf"/>
              </a:rPr>
              <a:t>THANKS FOR WATCHING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oomer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234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spc="300">
                <a:solidFill>
                  <a:srgbClr val="929EB0"/>
                </a:solidFill>
                <a:latin typeface="C:/Windows/Fonts/msyh.ttc"/>
                <a:ea typeface="C:/Windows/Fonts/msyh.ttc"/>
                <a:cs typeface="C:/Windows/Fonts/msyh.ttc"/>
              </a:rPr>
              <a:t>开场  ·  第 2 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BCC5D2"/>
                </a:solidFill>
                <a:latin typeface="C:/Windows/Fonts/msyh.ttc"/>
                <a:ea typeface="C:/Windows/Fonts/msyh.ttc"/>
                <a:cs typeface="C:/Windows/Fonts/msyh.ttc"/>
              </a:rPr>
              <a:t>“我们今年只做一件事——把交付准时率从 62% 拉到 95%。”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2788920"/>
            <a:ext cx="1371600" cy="41148"/>
          </a:xfrm>
          <a:prstGeom prst="rect">
            <a:avLst/>
          </a:prstGeom>
          <a:solidFill>
            <a:srgbClr val="D6B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15468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C:/Windows/Fonts/SourceHanSansSC-Bold.otf"/>
                <a:ea typeface="C:/Windows/Fonts/SourceHanSansSC-Bold.otf"/>
                <a:cs typeface="C:/Windows/Fonts/SourceHanSansSC-Bold.otf"/>
              </a:rPr>
              <a:t>交付准时率  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D6B26E"/>
                </a:solidFill>
                <a:latin typeface="C:/Windows/Fonts/msyh.ttc"/>
                <a:ea typeface="C:/Windows/Fonts/msyh.ttc"/>
                <a:cs typeface="C:/Windows/Fonts/msyh.ttc"/>
              </a:rPr>
              <a:t>已经做到  ·  下一个 12 个月，我们守住它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788496"/>
                </a:solidFill>
                <a:latin typeface="C:/Windows/Fonts/msyh.ttc"/>
                <a:ea typeface="C:/Windows/Fonts/msyh.ttc"/>
                <a:cs typeface="C:/Windows/Fonts/msyh.ttc"/>
              </a:rPr>
              <a:t>2026 年度项目汇报   |   sora   |   2026.10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8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7160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spc="500">
                <a:solidFill>
                  <a:srgbClr val="78C8BE"/>
                </a:solidFill>
                <a:latin typeface="C:/Windows/Fonts/msyh.ttc"/>
                <a:ea typeface="C:/Windows/Fonts/msyh.ttc"/>
                <a:cs typeface="C:/Windows/Fonts/msyh.ttc"/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9494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:/Windows/Fonts/SourceHanSansSC-Bold.otf"/>
                <a:ea typeface="C:/Windows/Fonts/SourceHanSansSC-Bold.otf"/>
                <a:cs typeface="C:/Windows/Fonts/SourceHanSansSC-Bold.otf"/>
              </a:rPr>
              <a:t>扫码申请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400" b="1">
                <a:solidFill>
                  <a:srgbClr val="5EE2D0"/>
                </a:solidFill>
                <a:latin typeface="C:/Windows/Fonts/SourceHanSansSC-Bold.otf"/>
                <a:ea typeface="C:/Windows/Fonts/SourceHanSansSC-Bold.otf"/>
                <a:cs typeface="C:/Windows/Fonts/SourceHanSansSC-Bold.otf"/>
              </a:rPr>
              <a:t>7 天试用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3822191"/>
            <a:ext cx="4846320" cy="822960"/>
          </a:xfrm>
          <a:prstGeom prst="roundRect">
            <a:avLst>
              <a:gd name="adj" fmla="val 35000"/>
            </a:avLst>
          </a:prstGeom>
          <a:solidFill>
            <a:srgbClr val="1C20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405993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spc="100">
                <a:solidFill>
                  <a:srgbClr val="5EE2D0"/>
                </a:solidFill>
                <a:latin typeface="C:/Windows/Fonts/arialbd.ttf"/>
                <a:ea typeface="C:/Windows/Fonts/arialbd.ttf"/>
                <a:cs typeface="C:/Windows/Fonts/arialbd.ttf"/>
              </a:rPr>
              <a:t>example.com/apply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>
                <a:solidFill>
                  <a:srgbClr val="B0BAC8"/>
                </a:solidFill>
                <a:latin typeface="C:/Windows/Fonts/msyh.ttc"/>
                <a:ea typeface="C:/Windows/Fonts/msyh.ttc"/>
                <a:cs typeface="C:/Windows/Fonts/msyh.ttc"/>
              </a:rPr>
              <a:t>名额：本期 20 个  ·  截止：10 月 20 日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>
                <a:solidFill>
                  <a:srgbClr val="B0BAC8"/>
                </a:solidFill>
                <a:latin typeface="C:/Windows/Fonts/msyh.ttc"/>
                <a:ea typeface="C:/Windows/Fonts/msyh.ttc"/>
                <a:cs typeface="C:/Windows/Fonts/msyh.ttc"/>
              </a:rPr>
              <a:t>申请后 48 小时内回复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7968" y="1709928"/>
            <a:ext cx="2487168" cy="2487168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965960"/>
            <a:ext cx="1975104" cy="19751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87968" y="4315968"/>
            <a:ext cx="2487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ED8E4"/>
                </a:solidFill>
                <a:latin typeface="C:/Windows/Fonts/msyh.ttc"/>
                <a:ea typeface="C:/Windows/Fonts/msyh.ttc"/>
                <a:cs typeface="C:/Windows/Fonts/msyh.ttc"/>
              </a:rPr>
              <a:t>微信扫码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33172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:/Windows/Fonts/SourceHanSansSC-Bold.otf"/>
                <a:ea typeface="C:/Windows/Fonts/SourceHanSansSC-Bold.otf"/>
                <a:cs typeface="C:/Windows/Fonts/SourceHanSansSC-Bold.otf"/>
              </a:rPr>
              <a:t>有技术问题，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D6B26E"/>
                </a:solidFill>
                <a:latin typeface="C:/Windows/Fonts/SourceHanSansSC-Bold.otf"/>
                <a:ea typeface="C:/Windows/Fonts/SourceHanSansSC-Bold.otf"/>
                <a:cs typeface="C:/Windows/Fonts/SourceHanSansSC-Bold.otf"/>
              </a:rPr>
              <a:t>随时找我。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BAC4D2"/>
                </a:solidFill>
                <a:latin typeface="C:/Windows/Fonts/msyh.ttc"/>
                <a:ea typeface="C:/Windows/Fonts/msyh.ttc"/>
                <a:cs typeface="C:/Windows/Fonts/msyh.ttc"/>
              </a:rPr>
              <a:t>硬件研发 / AI 自动化 / 工业软件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417320"/>
            <a:ext cx="4754880" cy="402336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196596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6A0B0"/>
                </a:solidFill>
                <a:latin typeface="C:/Windows/Fonts/msyh.ttc"/>
                <a:ea typeface="C:/Windows/Fonts/msyh.ttc"/>
                <a:cs typeface="C:/Windows/Fonts/msyh.ttc"/>
              </a:rPr>
              <a:t>姓　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929384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262C36"/>
                </a:solidFill>
                <a:latin typeface="C:/Windows/Fonts/msyhbd.ttc"/>
                <a:ea typeface="C:/Windows/Fonts/msyhbd.ttc"/>
                <a:cs typeface="C:/Windows/Fonts/msyhbd.ttc"/>
              </a:rPr>
              <a:t>sora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80720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6A0B0"/>
                </a:solidFill>
                <a:latin typeface="C:/Windows/Fonts/msyh.ttc"/>
                <a:ea typeface="C:/Windows/Fonts/msyh.ttc"/>
                <a:cs typeface="C:/Windows/Fonts/msyh.ttc"/>
              </a:rPr>
              <a:t>领　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770632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262C36"/>
                </a:solidFill>
                <a:latin typeface="C:/Windows/Fonts/msyhbd.ttc"/>
                <a:ea typeface="C:/Windows/Fonts/msyhbd.ttc"/>
                <a:cs typeface="C:/Windows/Fonts/msyhbd.ttc"/>
              </a:rPr>
              <a:t>硬件研发 / AI 自动化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3648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6A0B0"/>
                </a:solidFill>
                <a:latin typeface="C:/Windows/Fonts/msyh.ttc"/>
                <a:ea typeface="C:/Windows/Fonts/msyh.ttc"/>
                <a:cs typeface="C:/Windows/Fonts/msyh.ttc"/>
              </a:rPr>
              <a:t>邮　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61188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262C36"/>
                </a:solidFill>
                <a:latin typeface="C:/Windows/Fonts/msyhbd.ttc"/>
                <a:ea typeface="C:/Windows/Fonts/msyhbd.ttc"/>
                <a:cs typeface="C:/Windows/Fonts/msyhbd.ttc"/>
              </a:rPr>
              <a:t>sora.work@example.com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448970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6A0B0"/>
                </a:solidFill>
                <a:latin typeface="C:/Windows/Fonts/msyh.ttc"/>
                <a:ea typeface="C:/Windows/Fonts/msyh.ttc"/>
                <a:cs typeface="C:/Windows/Fonts/msyh.ttc"/>
              </a:rPr>
              <a:t>微　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45312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262C36"/>
                </a:solidFill>
                <a:latin typeface="C:/Windows/Fonts/msyhbd.ttc"/>
                <a:ea typeface="C:/Windows/Fonts/msyhbd.ttc"/>
                <a:cs typeface="C:/Windows/Fonts/msyhbd.ttc"/>
              </a:rPr>
              <a:t>sora_ai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2788920"/>
            <a:ext cx="3657600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86600" y="3630168"/>
            <a:ext cx="3657600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86600" y="4471416"/>
            <a:ext cx="3657600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091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AB4C4"/>
                </a:solidFill>
                <a:latin typeface="C:/Windows/Fonts/msyh.ttc"/>
                <a:ea typeface="C:/Windows/Fonts/msyh.ttc"/>
                <a:cs typeface="C:/Windows/Fonts/msyh.ttc"/>
              </a:rPr>
              <a:t>微信扫码   ·   直接加我</a:t>
            </a:r>
          </a:p>
        </p:txBody>
      </p:sp>
      <p:pic>
        <p:nvPicPr>
          <p:cNvPr id="18" name="Picture 17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4443984"/>
            <a:ext cx="868680" cy="868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old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965960"/>
            <a:ext cx="9418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:/Windows/Fonts/SourceHanSansSC-Bold.otf"/>
                <a:ea typeface="C:/Windows/Fonts/SourceHanSansSC-Bold.otf"/>
                <a:cs typeface="C:/Windows/Fonts/SourceHanSansSC-Bold.otf"/>
              </a:rPr>
              <a:t>先把问题定义对，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5400" b="1">
                <a:solidFill>
                  <a:srgbClr val="D6B26E"/>
                </a:solidFill>
                <a:latin typeface="C:/Windows/Fonts/SourceHanSansSC-Bold.otf"/>
                <a:ea typeface="C:/Windows/Fonts/SourceHanSansSC-Bold.otf"/>
                <a:cs typeface="C:/Windows/Fonts/SourceHanSansSC-Bold.otf"/>
              </a:rPr>
              <a:t>再谈用什么模型。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89888" y="4617720"/>
            <a:ext cx="1234440" cy="45720"/>
          </a:xfrm>
          <a:prstGeom prst="rect">
            <a:avLst/>
          </a:prstGeom>
          <a:solidFill>
            <a:srgbClr val="D6B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89204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spc="200">
                <a:solidFill>
                  <a:srgbClr val="9CA8BA"/>
                </a:solidFill>
                <a:latin typeface="C:/Windows/Fonts/msyh.ttc"/>
                <a:ea typeface="C:/Windows/Fonts/msyh.ttc"/>
                <a:cs typeface="C:/Windows/Fonts/msyh.ttc"/>
              </a:rPr>
              <a:t>sora   ·   2026 年度技术复盘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9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mm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65836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202834"/>
                </a:solidFill>
                <a:latin typeface="C:/Windows/Fonts/SourceHanSansSC-Bold.otf"/>
                <a:ea typeface="C:/Windows/Fonts/SourceHanSansSC-Bold.otf"/>
                <a:cs typeface="C:/Windows/Fonts/SourceHanSansSC-Bold.otf"/>
              </a:rPr>
              <a:t>今天只讲了三件事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984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808C9E"/>
                </a:solidFill>
                <a:latin typeface="C:/Windows/Fonts/msyh.ttc"/>
                <a:ea typeface="C:/Windows/Fonts/msyh.ttc"/>
                <a:cs typeface="C:/Windows/Fonts/msyh.ttc"/>
              </a:rPr>
              <a:t>带走这三条，比记住整份 PPT 有用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48840"/>
            <a:ext cx="3310128" cy="3200400"/>
          </a:xfrm>
          <a:prstGeom prst="roundRect">
            <a:avLst>
              <a:gd name="adj" fmla="val 7000"/>
            </a:avLst>
          </a:pr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40"/>
            <a:ext cx="3310128" cy="77724"/>
          </a:xfrm>
          <a:prstGeom prst="rect">
            <a:avLst/>
          </a:prstGeom>
          <a:solidFill>
            <a:srgbClr val="D6B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260604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6B26E"/>
                </a:solidFill>
                <a:latin typeface="C:/Windows/Fonts/arialbd.ttf"/>
                <a:ea typeface="C:/Windows/Fonts/arialbd.ttf"/>
                <a:cs typeface="C:/Windows/Fonts/arialbd.ttf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361188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E242E"/>
                </a:solidFill>
                <a:latin typeface="C:/Windows/Fonts/msyhbd.ttc"/>
                <a:ea typeface="C:/Windows/Fonts/msyhbd.ttc"/>
                <a:cs typeface="C:/Windows/Fonts/msyhbd.ttc"/>
              </a:rPr>
              <a:t>问题定义先于模型选型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46177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8490A0"/>
                </a:solidFill>
                <a:latin typeface="C:/Windows/Fonts/msyh.ttc"/>
                <a:ea typeface="C:/Windows/Fonts/msyh.ttc"/>
                <a:cs typeface="C:/Windows/Fonts/msyh.ttc"/>
              </a:rPr>
              <a:t>80% 的失败发生在第一步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71416" y="2148840"/>
            <a:ext cx="3310128" cy="3200400"/>
          </a:xfrm>
          <a:prstGeom prst="roundRect">
            <a:avLst>
              <a:gd name="adj" fmla="val 7000"/>
            </a:avLst>
          </a:pr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71416" y="2148840"/>
            <a:ext cx="3310128" cy="77724"/>
          </a:xfrm>
          <a:prstGeom prst="rect">
            <a:avLst/>
          </a:prstGeom>
          <a:solidFill>
            <a:srgbClr val="4A8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55464" y="260604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4A80E2"/>
                </a:solidFill>
                <a:latin typeface="C:/Windows/Fonts/arialbd.ttf"/>
                <a:ea typeface="C:/Windows/Fonts/arialbd.ttf"/>
                <a:cs typeface="C:/Windows/Fonts/arialbd.ttf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5464" y="361188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E242E"/>
                </a:solidFill>
                <a:latin typeface="C:/Windows/Fonts/msyhbd.ttc"/>
                <a:ea typeface="C:/Windows/Fonts/msyhbd.ttc"/>
                <a:cs typeface="C:/Windows/Fonts/msyhbd.ttc"/>
              </a:rPr>
              <a:t>数据闭环决定上限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55464" y="46177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8490A0"/>
                </a:solidFill>
                <a:latin typeface="C:/Windows/Fonts/msyh.ttc"/>
                <a:ea typeface="C:/Windows/Fonts/msyh.ttc"/>
                <a:cs typeface="C:/Windows/Fonts/msyh.ttc"/>
              </a:rPr>
              <a:t>没有反馈的 Agent 只是脚本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74152" y="2148840"/>
            <a:ext cx="3310128" cy="3200400"/>
          </a:xfrm>
          <a:prstGeom prst="roundRect">
            <a:avLst>
              <a:gd name="adj" fmla="val 7000"/>
            </a:avLst>
          </a:pr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74152" y="2148840"/>
            <a:ext cx="3310128" cy="77724"/>
          </a:xfrm>
          <a:prstGeom prst="rect">
            <a:avLst/>
          </a:prstGeom>
          <a:solidFill>
            <a:srgbClr val="36A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260604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36A084"/>
                </a:solidFill>
                <a:latin typeface="C:/Windows/Fonts/arialbd.ttf"/>
                <a:ea typeface="C:/Windows/Fonts/arialbd.ttf"/>
                <a:cs typeface="C:/Windows/Fonts/arialbd.ttf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1188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E242E"/>
                </a:solidFill>
                <a:latin typeface="C:/Windows/Fonts/msyhbd.ttc"/>
                <a:ea typeface="C:/Windows/Fonts/msyhbd.ttc"/>
                <a:cs typeface="C:/Windows/Fonts/msyhbd.ttc"/>
              </a:rPr>
              <a:t>交付确定性，不是代码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46177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8490A0"/>
                </a:solidFill>
                <a:latin typeface="C:/Windows/Fonts/msyh.ttc"/>
                <a:ea typeface="C:/Windows/Fonts/msyh.ttc"/>
                <a:cs typeface="C:/Windows/Fonts/msyh.ttc"/>
              </a:rPr>
              <a:t>客户买的是不出事的承诺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58064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808C9E"/>
                </a:solidFill>
                <a:latin typeface="C:/Windows/Fonts/msyh.ttc"/>
                <a:ea typeface="C:/Windows/Fonts/msyh.ttc"/>
                <a:cs typeface="C:/Windows/Fonts/msyh.ttc"/>
              </a:rPr>
              <a:t>完整材料与数据附录：example.com/2026-report      |      sora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6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grpId="0" nodeType="withEffect">
                            <p:stCondLst>
                              <p:cond delay="22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62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grpId="0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62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0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31720"/>
            <a:ext cx="121916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600" b="1">
                <a:solidFill>
                  <a:srgbClr val="FFFFFF"/>
                </a:solidFill>
                <a:latin typeface="C:/Windows/Fonts/SourceHanSansSC-Bold.otf"/>
                <a:ea typeface="C:/Windows/Fonts/SourceHanSansSC-Bold.otf"/>
                <a:cs typeface="C:/Windows/Fonts/SourceHanSansSC-Bold.otf"/>
              </a:rPr>
              <a:t>继续</a:t>
            </a:r>
          </a:p>
        </p:txBody>
      </p:sp>
      <p:sp>
        <p:nvSpPr>
          <p:cNvPr id="5" name="Rectangle 4"/>
          <p:cNvSpPr/>
          <p:nvPr/>
        </p:nvSpPr>
        <p:spPr>
          <a:xfrm>
            <a:off x="5501487" y="4069080"/>
            <a:ext cx="1188720" cy="45720"/>
          </a:xfrm>
          <a:prstGeom prst="rect">
            <a:avLst/>
          </a:prstGeom>
          <a:solidFill>
            <a:srgbClr val="D6B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370832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spc="300">
                <a:solidFill>
                  <a:srgbClr val="DEE4EE"/>
                </a:solidFill>
                <a:latin typeface="C:/Windows/Fonts/msyh.ttc"/>
                <a:ea typeface="C:/Windows/Fonts/msyh.ttc"/>
                <a:cs typeface="C:/Windows/Fonts/msyh.ttc"/>
              </a:rPr>
              <a:t>技术这件事，值得一直做下去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ollow_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panel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" y="3822191"/>
            <a:ext cx="5532120" cy="2395728"/>
          </a:xfrm>
          <a:prstGeom prst="roundRect">
            <a:avLst>
              <a:gd name="adj" fmla="val 5000"/>
            </a:avLst>
          </a:prstGeom>
          <a:solidFill>
            <a:srgbClr val="0A0406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977639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CF8F0"/>
                </a:solidFill>
                <a:latin typeface="C:/Windows/Fonts/msyhbd.ttc"/>
                <a:ea typeface="C:/Windows/Fonts/msyhbd.ttc"/>
                <a:cs typeface="C:/Windows/Fonts/msyhbd.ttc"/>
              </a:rPr>
              <a:t>恳请各位专家评委批评指正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408" y="4956048"/>
            <a:ext cx="1005840" cy="36576"/>
          </a:xfrm>
          <a:prstGeom prst="rect">
            <a:avLst/>
          </a:prstGeom>
          <a:solidFill>
            <a:srgbClr val="D6B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16636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600" b="0">
                <a:solidFill>
                  <a:srgbClr val="F2EADC"/>
                </a:solidFill>
                <a:latin typeface="C:/Windows/Fonts/msyh.ttc"/>
                <a:ea typeface="C:/Windows/Fonts/msyh.ttc"/>
                <a:cs typeface="C:/Windows/Fonts/msyh.ttc"/>
              </a:rPr>
              <a:t>汇报人：sora      指导教师：×××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600" b="0">
                <a:solidFill>
                  <a:srgbClr val="F2EADC"/>
                </a:solidFill>
                <a:latin typeface="C:/Windows/Fonts/msyh.ttc"/>
                <a:ea typeface="C:/Windows/Fonts/msyh.ttc"/>
                <a:cs typeface="C:/Windows/Fonts/msyh.ttc"/>
              </a:rPr>
              <a:t>2026 年度课题汇报   · 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59436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 spc="600">
                <a:solidFill>
                  <a:srgbClr val="E6CA94"/>
                </a:solidFill>
                <a:latin typeface="C:/Windows/Fonts/arialbd.ttf"/>
                <a:ea typeface="C:/Windows/Fonts/arialbd.ttf"/>
                <a:cs typeface="C:/Windows/Fonts/arialbd.ttf"/>
              </a:rPr>
              <a:t>Q &amp; 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0" presetID="23" presetClass="emph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>
                                  <p:cTn id="42" dur="9000" fill="hold"/>
                                  <p:tgtEl>
                                    <p:spTgt spid="2"/>
                                  </p:tgtEl>
                                </p:cBhvr>
                                <p:by x="10000" y="1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ollow_te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panel_t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23560" y="370332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spc="600">
                <a:solidFill>
                  <a:srgbClr val="96B0D0"/>
                </a:solidFill>
                <a:latin typeface="C:/Windows/Fonts/arialbd.ttf"/>
                <a:ea typeface="C:/Windows/Fonts/arialbd.ttf"/>
                <a:cs typeface="C:/Windows/Fonts/arialbd.ttf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23560" y="4224528"/>
            <a:ext cx="5669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:/Windows/Fonts/SourceHanSansSC-Bold.otf"/>
                <a:ea typeface="C:/Windows/Fonts/SourceHanSansSC-Bold.otf"/>
                <a:cs typeface="C:/Windows/Fonts/SourceHanSansSC-Bold.otf"/>
              </a:rPr>
              <a:t>项目已进入交付期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7ED6FF"/>
                </a:solidFill>
                <a:latin typeface="C:/Windows/Fonts/SourceHanSansSC-Bold.otf"/>
                <a:ea typeface="C:/Windows/Fonts/SourceHanSansSC-Bold.otf"/>
                <a:cs typeface="C:/Windows/Fonts/SourceHanSansSC-Bold.otf"/>
              </a:rPr>
              <a:t>欢迎随时找我聊下一步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5532120"/>
            <a:ext cx="1005840" cy="36576"/>
          </a:xfrm>
          <a:prstGeom prst="rect">
            <a:avLst/>
          </a:prstGeom>
          <a:solidFill>
            <a:srgbClr val="7E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5742432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8BAD0"/>
                </a:solidFill>
                <a:latin typeface="C:/Windows/Fonts/msyh.ttc"/>
                <a:ea typeface="C:/Windows/Fonts/msyh.ttc"/>
                <a:cs typeface="C:/Windows/Fonts/msyh.ttc"/>
              </a:rPr>
              <a:t>sora   ·   sora.work@example.com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0" presetID="23" presetClass="emph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>
                                  <p:cTn id="42" dur="9000" fill="hold"/>
                                  <p:tgtEl>
                                    <p:spTgt spid="2"/>
                                  </p:tgtEl>
                                </p:cBhvr>
                                <p:by x="10000" y="1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结尾页设计库</dc:title>
  <dc:subject/>
  <dc:creator>sora</dc:creator>
  <cp:keywords/>
  <dc:description>8 种结尾页版式 + 1 页反例；原生可编辑 + 真实动效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